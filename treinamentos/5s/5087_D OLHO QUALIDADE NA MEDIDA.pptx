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35">
          <p15:clr>
            <a:srgbClr val="A4A3A4"/>
          </p15:clr>
        </p15:guide>
        <p15:guide id="3" orient="horz" pos="3385">
          <p15:clr>
            <a:srgbClr val="A4A3A4"/>
          </p15:clr>
        </p15:guide>
        <p15:guide id="4" pos="431">
          <p15:clr>
            <a:srgbClr val="A4A3A4"/>
          </p15:clr>
        </p15:guide>
        <p15:guide id="5" pos="2880">
          <p15:clr>
            <a:srgbClr val="A4A3A4"/>
          </p15:clr>
        </p15:guide>
        <p15:guide id="6" pos="53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7"/>
    <a:srgbClr val="33CC33"/>
    <a:srgbClr val="66FF33"/>
    <a:srgbClr val="009900"/>
    <a:srgbClr val="B3FFB5"/>
    <a:srgbClr val="FFBBB9"/>
    <a:srgbClr val="F4FF8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314" y="102"/>
      </p:cViewPr>
      <p:guideLst>
        <p:guide orient="horz" pos="2160"/>
        <p:guide orient="horz" pos="935"/>
        <p:guide orient="horz" pos="3385"/>
        <p:guide pos="431"/>
        <p:guide pos="2880"/>
        <p:guide pos="53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1C495-B32E-48FD-AA57-D6F4D197906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0643A595-B325-4882-96C8-1A21164ACF94}">
      <dgm:prSet phldrT="[Texto]"/>
      <dgm:spPr/>
      <dgm:t>
        <a:bodyPr/>
        <a:lstStyle/>
        <a:p>
          <a:r>
            <a:rPr lang="pt-BR" dirty="0" smtClean="0">
              <a:solidFill>
                <a:schemeClr val="bg1">
                  <a:lumMod val="65000"/>
                </a:schemeClr>
              </a:solidFill>
            </a:rPr>
            <a:t>P</a:t>
          </a:r>
          <a:endParaRPr lang="pt-BR" dirty="0">
            <a:solidFill>
              <a:schemeClr val="bg1">
                <a:lumMod val="65000"/>
              </a:schemeClr>
            </a:solidFill>
          </a:endParaRPr>
        </a:p>
      </dgm:t>
    </dgm:pt>
    <dgm:pt modelId="{3534B274-139A-46CC-8A7B-203CF809EA66}" type="parTrans" cxnId="{63759163-C00B-48F4-998F-E56B96A44F1E}">
      <dgm:prSet/>
      <dgm:spPr/>
      <dgm:t>
        <a:bodyPr/>
        <a:lstStyle/>
        <a:p>
          <a:endParaRPr lang="pt-BR"/>
        </a:p>
      </dgm:t>
    </dgm:pt>
    <dgm:pt modelId="{E5198D14-1A54-4870-A831-3F2A3149F118}" type="sibTrans" cxnId="{63759163-C00B-48F4-998F-E56B96A44F1E}">
      <dgm:prSet/>
      <dgm:spPr/>
      <dgm:t>
        <a:bodyPr/>
        <a:lstStyle/>
        <a:p>
          <a:endParaRPr lang="pt-BR"/>
        </a:p>
      </dgm:t>
    </dgm:pt>
    <dgm:pt modelId="{4A7CFD8A-BADF-4B14-9AD9-1B94F14ED93F}">
      <dgm:prSet phldrT="[Texto]"/>
      <dgm:spPr/>
      <dgm:t>
        <a:bodyPr/>
        <a:lstStyle/>
        <a:p>
          <a:r>
            <a:rPr lang="pt-BR" dirty="0" smtClean="0">
              <a:solidFill>
                <a:schemeClr val="bg1">
                  <a:lumMod val="65000"/>
                </a:schemeClr>
              </a:solidFill>
            </a:rPr>
            <a:t>D</a:t>
          </a:r>
          <a:endParaRPr lang="pt-BR" dirty="0">
            <a:solidFill>
              <a:schemeClr val="bg1">
                <a:lumMod val="65000"/>
              </a:schemeClr>
            </a:solidFill>
          </a:endParaRPr>
        </a:p>
      </dgm:t>
    </dgm:pt>
    <dgm:pt modelId="{35B445F9-A508-47E4-86FA-61BCCDB4E739}" type="parTrans" cxnId="{49A0FF60-969B-42A0-A023-E3A9689CA79D}">
      <dgm:prSet/>
      <dgm:spPr/>
      <dgm:t>
        <a:bodyPr/>
        <a:lstStyle/>
        <a:p>
          <a:endParaRPr lang="pt-BR"/>
        </a:p>
      </dgm:t>
    </dgm:pt>
    <dgm:pt modelId="{45FC0C86-2736-4728-9ABF-6C01124AB2C1}" type="sibTrans" cxnId="{49A0FF60-969B-42A0-A023-E3A9689CA79D}">
      <dgm:prSet/>
      <dgm:spPr/>
      <dgm:t>
        <a:bodyPr/>
        <a:lstStyle/>
        <a:p>
          <a:endParaRPr lang="pt-BR"/>
        </a:p>
      </dgm:t>
    </dgm:pt>
    <dgm:pt modelId="{7916F74D-1DDA-4E97-9CA5-08098F79602C}">
      <dgm:prSet phldrT="[Texto]"/>
      <dgm:spPr/>
      <dgm:t>
        <a:bodyPr/>
        <a:lstStyle/>
        <a:p>
          <a:r>
            <a:rPr lang="pt-BR" dirty="0" smtClean="0">
              <a:solidFill>
                <a:schemeClr val="bg1">
                  <a:lumMod val="65000"/>
                </a:schemeClr>
              </a:solidFill>
            </a:rPr>
            <a:t>A</a:t>
          </a:r>
          <a:endParaRPr lang="pt-BR" dirty="0">
            <a:solidFill>
              <a:schemeClr val="bg1">
                <a:lumMod val="65000"/>
              </a:schemeClr>
            </a:solidFill>
          </a:endParaRPr>
        </a:p>
      </dgm:t>
    </dgm:pt>
    <dgm:pt modelId="{272E04DF-1607-4891-A3D5-F734ED2C5FB8}" type="parTrans" cxnId="{41495675-8BD6-4A16-A187-42CA188E8D55}">
      <dgm:prSet/>
      <dgm:spPr/>
      <dgm:t>
        <a:bodyPr/>
        <a:lstStyle/>
        <a:p>
          <a:endParaRPr lang="pt-BR"/>
        </a:p>
      </dgm:t>
    </dgm:pt>
    <dgm:pt modelId="{8238CF0A-2C14-484E-821A-4974E59CE5B0}" type="sibTrans" cxnId="{41495675-8BD6-4A16-A187-42CA188E8D55}">
      <dgm:prSet/>
      <dgm:spPr/>
      <dgm:t>
        <a:bodyPr/>
        <a:lstStyle/>
        <a:p>
          <a:endParaRPr lang="pt-BR"/>
        </a:p>
      </dgm:t>
    </dgm:pt>
    <dgm:pt modelId="{CB4BCF7E-F024-4E68-A1AE-FC8A5A884E71}">
      <dgm:prSet phldrT="[Texto]"/>
      <dgm:spPr/>
      <dgm:t>
        <a:bodyPr/>
        <a:lstStyle/>
        <a:p>
          <a:r>
            <a:rPr lang="pt-BR" dirty="0" smtClean="0">
              <a:solidFill>
                <a:schemeClr val="bg1">
                  <a:lumMod val="65000"/>
                </a:schemeClr>
              </a:solidFill>
            </a:rPr>
            <a:t>C</a:t>
          </a:r>
          <a:endParaRPr lang="pt-BR" dirty="0">
            <a:solidFill>
              <a:schemeClr val="bg1">
                <a:lumMod val="65000"/>
              </a:schemeClr>
            </a:solidFill>
          </a:endParaRPr>
        </a:p>
      </dgm:t>
    </dgm:pt>
    <dgm:pt modelId="{257502FA-43A3-4AB4-BE79-0CEAA74AE31B}" type="parTrans" cxnId="{CF851B86-AAAE-4133-BFFB-73BACD6F7CAD}">
      <dgm:prSet/>
      <dgm:spPr/>
      <dgm:t>
        <a:bodyPr/>
        <a:lstStyle/>
        <a:p>
          <a:endParaRPr lang="pt-BR"/>
        </a:p>
      </dgm:t>
    </dgm:pt>
    <dgm:pt modelId="{210A655B-95BB-4C55-9A2C-3C6FE7AA5C21}" type="sibTrans" cxnId="{CF851B86-AAAE-4133-BFFB-73BACD6F7CAD}">
      <dgm:prSet/>
      <dgm:spPr/>
      <dgm:t>
        <a:bodyPr/>
        <a:lstStyle/>
        <a:p>
          <a:endParaRPr lang="pt-BR"/>
        </a:p>
      </dgm:t>
    </dgm:pt>
    <dgm:pt modelId="{137F0DDD-97E3-4A05-8230-7F2553075EE4}" type="pres">
      <dgm:prSet presAssocID="{BBA1C495-B32E-48FD-AA57-D6F4D1979061}" presName="compositeShape" presStyleCnt="0">
        <dgm:presLayoutVars>
          <dgm:chMax val="7"/>
          <dgm:dir/>
          <dgm:resizeHandles val="exact"/>
        </dgm:presLayoutVars>
      </dgm:prSet>
      <dgm:spPr/>
    </dgm:pt>
    <dgm:pt modelId="{253B180C-AD1F-4612-ACC6-D4A3AFE2CD1E}" type="pres">
      <dgm:prSet presAssocID="{BBA1C495-B32E-48FD-AA57-D6F4D1979061}" presName="wedge1" presStyleLbl="node1" presStyleIdx="0" presStyleCnt="4"/>
      <dgm:spPr/>
      <dgm:t>
        <a:bodyPr/>
        <a:lstStyle/>
        <a:p>
          <a:endParaRPr lang="pt-BR"/>
        </a:p>
      </dgm:t>
    </dgm:pt>
    <dgm:pt modelId="{79CB6082-DD32-4301-BE7F-827C23E1330B}" type="pres">
      <dgm:prSet presAssocID="{BBA1C495-B32E-48FD-AA57-D6F4D1979061}" presName="dummy1a" presStyleCnt="0"/>
      <dgm:spPr/>
    </dgm:pt>
    <dgm:pt modelId="{35152ED4-3B74-4282-807E-9E3540342A20}" type="pres">
      <dgm:prSet presAssocID="{BBA1C495-B32E-48FD-AA57-D6F4D1979061}" presName="dummy1b" presStyleCnt="0"/>
      <dgm:spPr/>
    </dgm:pt>
    <dgm:pt modelId="{60F10A33-9579-47BC-9BE7-9B6F3C823890}" type="pres">
      <dgm:prSet presAssocID="{BBA1C495-B32E-48FD-AA57-D6F4D1979061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2B53121-851C-46F7-8BD8-504800225013}" type="pres">
      <dgm:prSet presAssocID="{BBA1C495-B32E-48FD-AA57-D6F4D1979061}" presName="wedge2" presStyleLbl="node1" presStyleIdx="1" presStyleCnt="4" custScaleX="107178" custScaleY="105655"/>
      <dgm:spPr/>
      <dgm:t>
        <a:bodyPr/>
        <a:lstStyle/>
        <a:p>
          <a:endParaRPr lang="pt-BR"/>
        </a:p>
      </dgm:t>
    </dgm:pt>
    <dgm:pt modelId="{A88741AB-97A2-4B1C-8CA3-0027FCA167B1}" type="pres">
      <dgm:prSet presAssocID="{BBA1C495-B32E-48FD-AA57-D6F4D1979061}" presName="dummy2a" presStyleCnt="0"/>
      <dgm:spPr/>
    </dgm:pt>
    <dgm:pt modelId="{E017BD89-1790-40D9-9FAC-5795EC9697C9}" type="pres">
      <dgm:prSet presAssocID="{BBA1C495-B32E-48FD-AA57-D6F4D1979061}" presName="dummy2b" presStyleCnt="0"/>
      <dgm:spPr/>
    </dgm:pt>
    <dgm:pt modelId="{9D25B0BD-2E2B-402B-BFDE-A53DCC489F6F}" type="pres">
      <dgm:prSet presAssocID="{BBA1C495-B32E-48FD-AA57-D6F4D1979061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CCDA43-1E35-46EC-B1A1-6A7C0DDD1754}" type="pres">
      <dgm:prSet presAssocID="{BBA1C495-B32E-48FD-AA57-D6F4D1979061}" presName="wedge3" presStyleLbl="node1" presStyleIdx="2" presStyleCnt="4" custScaleX="101606" custScaleY="93442" custLinFactNeighborX="714" custLinFactNeighborY="222"/>
      <dgm:spPr/>
      <dgm:t>
        <a:bodyPr/>
        <a:lstStyle/>
        <a:p>
          <a:endParaRPr lang="pt-BR"/>
        </a:p>
      </dgm:t>
    </dgm:pt>
    <dgm:pt modelId="{7F4F04FB-B406-4C97-92E9-885E8F04E904}" type="pres">
      <dgm:prSet presAssocID="{BBA1C495-B32E-48FD-AA57-D6F4D1979061}" presName="dummy3a" presStyleCnt="0"/>
      <dgm:spPr/>
    </dgm:pt>
    <dgm:pt modelId="{77D74582-3D0F-4CAD-B1E2-BB033FA07FF3}" type="pres">
      <dgm:prSet presAssocID="{BBA1C495-B32E-48FD-AA57-D6F4D1979061}" presName="dummy3b" presStyleCnt="0"/>
      <dgm:spPr/>
    </dgm:pt>
    <dgm:pt modelId="{8D488A7E-17AB-445B-BB26-42434ED73DBB}" type="pres">
      <dgm:prSet presAssocID="{BBA1C495-B32E-48FD-AA57-D6F4D1979061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8A4EE8C-8583-4322-8198-E79FBD33587B}" type="pres">
      <dgm:prSet presAssocID="{BBA1C495-B32E-48FD-AA57-D6F4D1979061}" presName="wedge4" presStyleLbl="node1" presStyleIdx="3" presStyleCnt="4"/>
      <dgm:spPr/>
      <dgm:t>
        <a:bodyPr/>
        <a:lstStyle/>
        <a:p>
          <a:endParaRPr lang="pt-BR"/>
        </a:p>
      </dgm:t>
    </dgm:pt>
    <dgm:pt modelId="{B47F78BE-5684-439C-A210-628D67233A2B}" type="pres">
      <dgm:prSet presAssocID="{BBA1C495-B32E-48FD-AA57-D6F4D1979061}" presName="dummy4a" presStyleCnt="0"/>
      <dgm:spPr/>
    </dgm:pt>
    <dgm:pt modelId="{DE919688-54BA-434E-B804-0AAF0EB9B51C}" type="pres">
      <dgm:prSet presAssocID="{BBA1C495-B32E-48FD-AA57-D6F4D1979061}" presName="dummy4b" presStyleCnt="0"/>
      <dgm:spPr/>
    </dgm:pt>
    <dgm:pt modelId="{BE38B4D0-2254-4526-B9FE-297E5A457430}" type="pres">
      <dgm:prSet presAssocID="{BBA1C495-B32E-48FD-AA57-D6F4D1979061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8DD1FE9-C584-4C5D-9B03-F0919F4DB328}" type="pres">
      <dgm:prSet presAssocID="{E5198D14-1A54-4870-A831-3F2A3149F118}" presName="arrowWedge1" presStyleLbl="fgSibTrans2D1" presStyleIdx="0" presStyleCnt="4"/>
      <dgm:spPr>
        <a:solidFill>
          <a:srgbClr val="FFC000"/>
        </a:solidFill>
      </dgm:spPr>
    </dgm:pt>
    <dgm:pt modelId="{84418E9A-1475-4C8E-BF84-5AE646BF8488}" type="pres">
      <dgm:prSet presAssocID="{45FC0C86-2736-4728-9ABF-6C01124AB2C1}" presName="arrowWedge2" presStyleLbl="fgSibTrans2D1" presStyleIdx="1" presStyleCnt="4" custLinFactNeighborX="548" custLinFactNeighborY="968"/>
      <dgm:spPr>
        <a:solidFill>
          <a:srgbClr val="FFC000"/>
        </a:solidFill>
      </dgm:spPr>
    </dgm:pt>
    <dgm:pt modelId="{E44CC74A-3B16-4364-B8E0-092E26D0DBC4}" type="pres">
      <dgm:prSet presAssocID="{210A655B-95BB-4C55-9A2C-3C6FE7AA5C21}" presName="arrowWedge3" presStyleLbl="fgSibTrans2D1" presStyleIdx="2" presStyleCnt="4" custScaleX="100185" custScaleY="101664" custLinFactNeighborX="-1395" custLinFactNeighborY="-2317"/>
      <dgm:spPr>
        <a:solidFill>
          <a:srgbClr val="FFC000"/>
        </a:solidFill>
      </dgm:spPr>
    </dgm:pt>
    <dgm:pt modelId="{24C3B85F-EF09-411E-B9DB-537DBF75D679}" type="pres">
      <dgm:prSet presAssocID="{8238CF0A-2C14-484E-821A-4974E59CE5B0}" presName="arrowWedge4" presStyleLbl="fgSibTrans2D1" presStyleIdx="3" presStyleCnt="4"/>
      <dgm:spPr>
        <a:solidFill>
          <a:srgbClr val="FFC000"/>
        </a:solidFill>
        <a:ln>
          <a:solidFill>
            <a:srgbClr val="FFC000"/>
          </a:solidFill>
        </a:ln>
      </dgm:spPr>
    </dgm:pt>
  </dgm:ptLst>
  <dgm:cxnLst>
    <dgm:cxn modelId="{C21E570F-8F16-4325-AA1E-B548F7C6F32E}" type="presOf" srcId="{CB4BCF7E-F024-4E68-A1AE-FC8A5A884E71}" destId="{8D488A7E-17AB-445B-BB26-42434ED73DBB}" srcOrd="1" destOrd="0" presId="urn:microsoft.com/office/officeart/2005/8/layout/cycle8"/>
    <dgm:cxn modelId="{6809D99B-894F-497C-A2D2-A1979A6928A2}" type="presOf" srcId="{7916F74D-1DDA-4E97-9CA5-08098F79602C}" destId="{F8A4EE8C-8583-4322-8198-E79FBD33587B}" srcOrd="0" destOrd="0" presId="urn:microsoft.com/office/officeart/2005/8/layout/cycle8"/>
    <dgm:cxn modelId="{63759163-C00B-48F4-998F-E56B96A44F1E}" srcId="{BBA1C495-B32E-48FD-AA57-D6F4D1979061}" destId="{0643A595-B325-4882-96C8-1A21164ACF94}" srcOrd="0" destOrd="0" parTransId="{3534B274-139A-46CC-8A7B-203CF809EA66}" sibTransId="{E5198D14-1A54-4870-A831-3F2A3149F118}"/>
    <dgm:cxn modelId="{6F9CE6A7-7CC9-4B58-81A7-AD10F7C6A127}" type="presOf" srcId="{4A7CFD8A-BADF-4B14-9AD9-1B94F14ED93F}" destId="{9D25B0BD-2E2B-402B-BFDE-A53DCC489F6F}" srcOrd="1" destOrd="0" presId="urn:microsoft.com/office/officeart/2005/8/layout/cycle8"/>
    <dgm:cxn modelId="{193BFD2A-195B-46A7-994F-E337CEF5358B}" type="presOf" srcId="{0643A595-B325-4882-96C8-1A21164ACF94}" destId="{60F10A33-9579-47BC-9BE7-9B6F3C823890}" srcOrd="1" destOrd="0" presId="urn:microsoft.com/office/officeart/2005/8/layout/cycle8"/>
    <dgm:cxn modelId="{2F3E4C1F-9B66-4D40-B8F9-88FBF42C15A2}" type="presOf" srcId="{4A7CFD8A-BADF-4B14-9AD9-1B94F14ED93F}" destId="{42B53121-851C-46F7-8BD8-504800225013}" srcOrd="0" destOrd="0" presId="urn:microsoft.com/office/officeart/2005/8/layout/cycle8"/>
    <dgm:cxn modelId="{2B60FC59-6994-4DA5-BE4E-500C59210218}" type="presOf" srcId="{7916F74D-1DDA-4E97-9CA5-08098F79602C}" destId="{BE38B4D0-2254-4526-B9FE-297E5A457430}" srcOrd="1" destOrd="0" presId="urn:microsoft.com/office/officeart/2005/8/layout/cycle8"/>
    <dgm:cxn modelId="{465A1C0C-960C-4200-9BB5-076A06BAE399}" type="presOf" srcId="{BBA1C495-B32E-48FD-AA57-D6F4D1979061}" destId="{137F0DDD-97E3-4A05-8230-7F2553075EE4}" srcOrd="0" destOrd="0" presId="urn:microsoft.com/office/officeart/2005/8/layout/cycle8"/>
    <dgm:cxn modelId="{41495675-8BD6-4A16-A187-42CA188E8D55}" srcId="{BBA1C495-B32E-48FD-AA57-D6F4D1979061}" destId="{7916F74D-1DDA-4E97-9CA5-08098F79602C}" srcOrd="3" destOrd="0" parTransId="{272E04DF-1607-4891-A3D5-F734ED2C5FB8}" sibTransId="{8238CF0A-2C14-484E-821A-4974E59CE5B0}"/>
    <dgm:cxn modelId="{30FFEE28-6C2E-42B2-9868-68932D79AF51}" type="presOf" srcId="{CB4BCF7E-F024-4E68-A1AE-FC8A5A884E71}" destId="{7DCCDA43-1E35-46EC-B1A1-6A7C0DDD1754}" srcOrd="0" destOrd="0" presId="urn:microsoft.com/office/officeart/2005/8/layout/cycle8"/>
    <dgm:cxn modelId="{49A0FF60-969B-42A0-A023-E3A9689CA79D}" srcId="{BBA1C495-B32E-48FD-AA57-D6F4D1979061}" destId="{4A7CFD8A-BADF-4B14-9AD9-1B94F14ED93F}" srcOrd="1" destOrd="0" parTransId="{35B445F9-A508-47E4-86FA-61BCCDB4E739}" sibTransId="{45FC0C86-2736-4728-9ABF-6C01124AB2C1}"/>
    <dgm:cxn modelId="{CF851B86-AAAE-4133-BFFB-73BACD6F7CAD}" srcId="{BBA1C495-B32E-48FD-AA57-D6F4D1979061}" destId="{CB4BCF7E-F024-4E68-A1AE-FC8A5A884E71}" srcOrd="2" destOrd="0" parTransId="{257502FA-43A3-4AB4-BE79-0CEAA74AE31B}" sibTransId="{210A655B-95BB-4C55-9A2C-3C6FE7AA5C21}"/>
    <dgm:cxn modelId="{4103929A-0E63-449E-9034-813F8A367656}" type="presOf" srcId="{0643A595-B325-4882-96C8-1A21164ACF94}" destId="{253B180C-AD1F-4612-ACC6-D4A3AFE2CD1E}" srcOrd="0" destOrd="0" presId="urn:microsoft.com/office/officeart/2005/8/layout/cycle8"/>
    <dgm:cxn modelId="{7F428555-74CC-4F0B-A5F4-3E2C445DF7B0}" type="presParOf" srcId="{137F0DDD-97E3-4A05-8230-7F2553075EE4}" destId="{253B180C-AD1F-4612-ACC6-D4A3AFE2CD1E}" srcOrd="0" destOrd="0" presId="urn:microsoft.com/office/officeart/2005/8/layout/cycle8"/>
    <dgm:cxn modelId="{FB8FBAAB-EBC4-4576-BB87-86C9697F5C65}" type="presParOf" srcId="{137F0DDD-97E3-4A05-8230-7F2553075EE4}" destId="{79CB6082-DD32-4301-BE7F-827C23E1330B}" srcOrd="1" destOrd="0" presId="urn:microsoft.com/office/officeart/2005/8/layout/cycle8"/>
    <dgm:cxn modelId="{9B45FDA0-118A-41E4-B9FC-8D167CD748E6}" type="presParOf" srcId="{137F0DDD-97E3-4A05-8230-7F2553075EE4}" destId="{35152ED4-3B74-4282-807E-9E3540342A20}" srcOrd="2" destOrd="0" presId="urn:microsoft.com/office/officeart/2005/8/layout/cycle8"/>
    <dgm:cxn modelId="{54BFD57B-B343-4947-B32C-8BEB4F0BD110}" type="presParOf" srcId="{137F0DDD-97E3-4A05-8230-7F2553075EE4}" destId="{60F10A33-9579-47BC-9BE7-9B6F3C823890}" srcOrd="3" destOrd="0" presId="urn:microsoft.com/office/officeart/2005/8/layout/cycle8"/>
    <dgm:cxn modelId="{950138F5-D63F-420C-9573-A785D7F27F46}" type="presParOf" srcId="{137F0DDD-97E3-4A05-8230-7F2553075EE4}" destId="{42B53121-851C-46F7-8BD8-504800225013}" srcOrd="4" destOrd="0" presId="urn:microsoft.com/office/officeart/2005/8/layout/cycle8"/>
    <dgm:cxn modelId="{2028B1FF-0821-4B2B-A995-41B3E317C1AA}" type="presParOf" srcId="{137F0DDD-97E3-4A05-8230-7F2553075EE4}" destId="{A88741AB-97A2-4B1C-8CA3-0027FCA167B1}" srcOrd="5" destOrd="0" presId="urn:microsoft.com/office/officeart/2005/8/layout/cycle8"/>
    <dgm:cxn modelId="{1A78DD2C-6AC1-4849-ADD5-54AD21C06B44}" type="presParOf" srcId="{137F0DDD-97E3-4A05-8230-7F2553075EE4}" destId="{E017BD89-1790-40D9-9FAC-5795EC9697C9}" srcOrd="6" destOrd="0" presId="urn:microsoft.com/office/officeart/2005/8/layout/cycle8"/>
    <dgm:cxn modelId="{A4EACF15-8832-418D-BAA2-A466B8D70F65}" type="presParOf" srcId="{137F0DDD-97E3-4A05-8230-7F2553075EE4}" destId="{9D25B0BD-2E2B-402B-BFDE-A53DCC489F6F}" srcOrd="7" destOrd="0" presId="urn:microsoft.com/office/officeart/2005/8/layout/cycle8"/>
    <dgm:cxn modelId="{AF9BCD25-04C1-4C0E-9560-C6CD280DF859}" type="presParOf" srcId="{137F0DDD-97E3-4A05-8230-7F2553075EE4}" destId="{7DCCDA43-1E35-46EC-B1A1-6A7C0DDD1754}" srcOrd="8" destOrd="0" presId="urn:microsoft.com/office/officeart/2005/8/layout/cycle8"/>
    <dgm:cxn modelId="{ECCC0D55-AA1B-42CB-B9D2-8B2C695952E6}" type="presParOf" srcId="{137F0DDD-97E3-4A05-8230-7F2553075EE4}" destId="{7F4F04FB-B406-4C97-92E9-885E8F04E904}" srcOrd="9" destOrd="0" presId="urn:microsoft.com/office/officeart/2005/8/layout/cycle8"/>
    <dgm:cxn modelId="{4E9A493A-D8B1-4D9F-B01D-74CDC63DF285}" type="presParOf" srcId="{137F0DDD-97E3-4A05-8230-7F2553075EE4}" destId="{77D74582-3D0F-4CAD-B1E2-BB033FA07FF3}" srcOrd="10" destOrd="0" presId="urn:microsoft.com/office/officeart/2005/8/layout/cycle8"/>
    <dgm:cxn modelId="{821F37A0-B1B7-4ED0-B4F0-988902D03CD2}" type="presParOf" srcId="{137F0DDD-97E3-4A05-8230-7F2553075EE4}" destId="{8D488A7E-17AB-445B-BB26-42434ED73DBB}" srcOrd="11" destOrd="0" presId="urn:microsoft.com/office/officeart/2005/8/layout/cycle8"/>
    <dgm:cxn modelId="{4CAFC41B-7FEB-40D0-8B69-481544EE68AC}" type="presParOf" srcId="{137F0DDD-97E3-4A05-8230-7F2553075EE4}" destId="{F8A4EE8C-8583-4322-8198-E79FBD33587B}" srcOrd="12" destOrd="0" presId="urn:microsoft.com/office/officeart/2005/8/layout/cycle8"/>
    <dgm:cxn modelId="{D7C68492-952F-4534-9EED-02910A4C5F5C}" type="presParOf" srcId="{137F0DDD-97E3-4A05-8230-7F2553075EE4}" destId="{B47F78BE-5684-439C-A210-628D67233A2B}" srcOrd="13" destOrd="0" presId="urn:microsoft.com/office/officeart/2005/8/layout/cycle8"/>
    <dgm:cxn modelId="{5969D4FF-8094-4C44-859F-7F6309F1A8E6}" type="presParOf" srcId="{137F0DDD-97E3-4A05-8230-7F2553075EE4}" destId="{DE919688-54BA-434E-B804-0AAF0EB9B51C}" srcOrd="14" destOrd="0" presId="urn:microsoft.com/office/officeart/2005/8/layout/cycle8"/>
    <dgm:cxn modelId="{AA86754C-AD0C-45D8-8263-EF2AE38825EF}" type="presParOf" srcId="{137F0DDD-97E3-4A05-8230-7F2553075EE4}" destId="{BE38B4D0-2254-4526-B9FE-297E5A457430}" srcOrd="15" destOrd="0" presId="urn:microsoft.com/office/officeart/2005/8/layout/cycle8"/>
    <dgm:cxn modelId="{2B80E002-1196-4E1F-811B-BC475E799262}" type="presParOf" srcId="{137F0DDD-97E3-4A05-8230-7F2553075EE4}" destId="{F8DD1FE9-C584-4C5D-9B03-F0919F4DB328}" srcOrd="16" destOrd="0" presId="urn:microsoft.com/office/officeart/2005/8/layout/cycle8"/>
    <dgm:cxn modelId="{4B174D3E-85D8-4127-9F9C-F5D5E8A98ACD}" type="presParOf" srcId="{137F0DDD-97E3-4A05-8230-7F2553075EE4}" destId="{84418E9A-1475-4C8E-BF84-5AE646BF8488}" srcOrd="17" destOrd="0" presId="urn:microsoft.com/office/officeart/2005/8/layout/cycle8"/>
    <dgm:cxn modelId="{D22F6EB3-25EF-49A4-B3D5-17C932CC8706}" type="presParOf" srcId="{137F0DDD-97E3-4A05-8230-7F2553075EE4}" destId="{E44CC74A-3B16-4364-B8E0-092E26D0DBC4}" srcOrd="18" destOrd="0" presId="urn:microsoft.com/office/officeart/2005/8/layout/cycle8"/>
    <dgm:cxn modelId="{3734B372-0DF0-4240-A5C7-73CDB1B24DDD}" type="presParOf" srcId="{137F0DDD-97E3-4A05-8230-7F2553075EE4}" destId="{24C3B85F-EF09-411E-B9DB-537DBF75D679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67989FB-B8F7-4BB7-AD36-23576EF930C9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6736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8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4099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57A733-85F5-4B2D-B5A4-B4F9F10C7509}" type="slidenum">
              <a:rPr lang="pt-BR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176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 descr="Slide_fundo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938" y="-15875"/>
            <a:ext cx="9151938" cy="688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55776" y="1488009"/>
            <a:ext cx="4176464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6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D-OLHO NA QUALIDADE</a:t>
            </a:r>
            <a:endParaRPr lang="pt-BR" sz="26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619672" y="3605215"/>
            <a:ext cx="6408712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2600" b="1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5S PARA A MICROEMPRESA</a:t>
            </a:r>
            <a:endParaRPr lang="pt-BR" sz="26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POR QUE </a:t>
            </a: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IMPLANTAR D’OLHO NA QUALIDADE? 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1764771" y="2508369"/>
            <a:ext cx="24476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4">
                    <a:lumMod val="65000"/>
                    <a:lumOff val="35000"/>
                  </a:schemeClr>
                </a:solidFill>
              </a:rPr>
              <a:t>Melhoria do ambiente de trabalho</a:t>
            </a:r>
          </a:p>
          <a:p>
            <a:endParaRPr lang="pt-BR" dirty="0">
              <a:solidFill>
                <a:schemeClr val="accent4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892195" y="2508369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spcBef>
                <a:spcPct val="20000"/>
              </a:spcBef>
            </a:pPr>
            <a:r>
              <a:rPr lang="pt-BR" altLang="pt-BR" dirty="0" smtClean="0">
                <a:solidFill>
                  <a:schemeClr val="accent4">
                    <a:lumMod val="65000"/>
                    <a:lumOff val="35000"/>
                  </a:schemeClr>
                </a:solidFill>
              </a:rPr>
              <a:t>Desenvolvimento  das Pessoas</a:t>
            </a:r>
            <a:endParaRPr lang="pt-BR" altLang="pt-BR" b="1" dirty="0">
              <a:solidFill>
                <a:schemeClr val="accent4">
                  <a:lumMod val="65000"/>
                  <a:lumOff val="35000"/>
                </a:schemeClr>
              </a:solidFill>
              <a:latin typeface="Arial Narrow" pitchFamily="34" charset="0"/>
            </a:endParaRPr>
          </a:p>
          <a:p>
            <a:endParaRPr lang="pt-BR" dirty="0">
              <a:solidFill>
                <a:schemeClr val="accent4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867859" y="3999978"/>
            <a:ext cx="2304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spcBef>
                <a:spcPct val="20000"/>
              </a:spcBef>
            </a:pPr>
            <a:r>
              <a:rPr lang="pt-BR" altLang="pt-BR" dirty="0">
                <a:solidFill>
                  <a:schemeClr val="accent4">
                    <a:lumMod val="65000"/>
                    <a:lumOff val="35000"/>
                  </a:schemeClr>
                </a:solidFill>
              </a:rPr>
              <a:t>Geração de resultados e ganhos</a:t>
            </a:r>
            <a:endParaRPr lang="pt-BR" altLang="pt-BR" b="1" dirty="0">
              <a:solidFill>
                <a:schemeClr val="accent4">
                  <a:lumMod val="65000"/>
                  <a:lumOff val="35000"/>
                </a:schemeClr>
              </a:solidFill>
              <a:latin typeface="Arial Narrow" pitchFamily="34" charset="0"/>
            </a:endParaRPr>
          </a:p>
          <a:p>
            <a:endParaRPr lang="pt-BR" dirty="0">
              <a:solidFill>
                <a:schemeClr val="accent4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860032" y="3999978"/>
            <a:ext cx="264103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Bef>
                <a:spcPct val="20000"/>
              </a:spcBef>
            </a:pPr>
            <a:r>
              <a:rPr lang="pt-BR" altLang="pt-BR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Menos desperdícios, </a:t>
            </a:r>
            <a:br>
              <a:rPr lang="pt-BR" altLang="pt-BR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</a:br>
            <a:r>
              <a:rPr lang="pt-BR" altLang="pt-BR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mais </a:t>
            </a:r>
            <a:r>
              <a:rPr lang="pt-BR" altLang="pt-BR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vida</a:t>
            </a:r>
          </a:p>
          <a:p>
            <a:pPr lvl="0" defTabSz="457200">
              <a:spcBef>
                <a:spcPct val="20000"/>
              </a:spcBef>
            </a:pPr>
            <a:endParaRPr lang="pt-BR" altLang="pt-BR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 lvl="0" defTabSz="457200">
              <a:spcBef>
                <a:spcPct val="20000"/>
              </a:spcBef>
            </a:pPr>
            <a:r>
              <a:rPr lang="pt-BR" altLang="pt-BR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Maior consciência, melhor resultado global</a:t>
            </a:r>
            <a:endParaRPr lang="pt-BR" altLang="pt-BR" b="1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endParaRPr lang="pt-BR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11" name="Conector reto 10"/>
          <p:cNvCxnSpPr/>
          <p:nvPr/>
        </p:nvCxnSpPr>
        <p:spPr>
          <a:xfrm>
            <a:off x="4541750" y="1700808"/>
            <a:ext cx="0" cy="4164296"/>
          </a:xfrm>
          <a:prstGeom prst="line">
            <a:avLst/>
          </a:prstGeom>
          <a:ln w="38100">
            <a:solidFill>
              <a:srgbClr val="0052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 flipH="1">
            <a:off x="1510314" y="3672999"/>
            <a:ext cx="6062873" cy="0"/>
          </a:xfrm>
          <a:prstGeom prst="line">
            <a:avLst/>
          </a:prstGeom>
          <a:ln w="38100">
            <a:solidFill>
              <a:srgbClr val="0052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>
                <a:solidFill>
                  <a:schemeClr val="bg1"/>
                </a:solidFill>
              </a:rPr>
              <a:t>S1E1</a:t>
            </a:r>
          </a:p>
        </p:txBody>
      </p:sp>
    </p:spTree>
    <p:extLst>
      <p:ext uri="{BB962C8B-B14F-4D97-AF65-F5344CB8AC3E}">
        <p14:creationId xmlns:p14="http://schemas.microsoft.com/office/powerpoint/2010/main" val="426814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52672"/>
              </p:ext>
            </p:extLst>
          </p:nvPr>
        </p:nvGraphicFramePr>
        <p:xfrm>
          <a:off x="395536" y="1464444"/>
          <a:ext cx="8424935" cy="3476724"/>
        </p:xfrm>
        <a:graphic>
          <a:graphicData uri="http://schemas.openxmlformats.org/drawingml/2006/table">
            <a:tbl>
              <a:tblPr firstRow="1">
                <a:tableStyleId>{10A1B5D5-9B99-4C35-A422-299274C87663}</a:tableStyleId>
              </a:tblPr>
              <a:tblGrid>
                <a:gridCol w="2190483"/>
                <a:gridCol w="2101598"/>
                <a:gridCol w="2195118"/>
                <a:gridCol w="1937736"/>
              </a:tblGrid>
              <a:tr h="805474">
                <a:tc gridSpan="4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sz="28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QUANDO EU USO</a:t>
                      </a:r>
                      <a:endParaRPr lang="pt-BR" sz="28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568466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Constantemente</a:t>
                      </a:r>
                      <a:endParaRPr kumimoji="0" lang="pt-BR" altLang="pt-B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Periodicamente</a:t>
                      </a:r>
                      <a:endParaRPr kumimoji="0" lang="pt-BR" altLang="pt-B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Raramente</a:t>
                      </a:r>
                      <a:endParaRPr kumimoji="0" lang="pt-BR" altLang="pt-B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Nunca</a:t>
                      </a:r>
                      <a:endParaRPr kumimoji="0" lang="pt-BR" altLang="pt-B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02784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Manter no local de trabalho ou próximo dele (mesa, bancada) </a:t>
                      </a:r>
                      <a:endParaRPr kumimoji="0" lang="pt-BR" altLang="pt-B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Manter um pouco afastado do local de trabalho (armário) </a:t>
                      </a:r>
                      <a:endParaRPr kumimoji="0" lang="pt-BR" altLang="pt-B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Manter em depósito ou almoxarifado, afastados do local de trabalho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altLang="pt-B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de descartados</a:t>
                      </a:r>
                      <a:endParaRPr kumimoji="0" lang="pt-BR" altLang="pt-B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ea typeface="Times New Roman" pitchFamily="18" charset="0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S2E1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44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488183"/>
              </p:ext>
            </p:extLst>
          </p:nvPr>
        </p:nvGraphicFramePr>
        <p:xfrm>
          <a:off x="251520" y="985630"/>
          <a:ext cx="8568951" cy="4514529"/>
        </p:xfrm>
        <a:graphic>
          <a:graphicData uri="http://schemas.openxmlformats.org/drawingml/2006/table">
            <a:tbl>
              <a:tblPr firstRow="1" bandRow="1" bandCol="1">
                <a:tableStyleId>{912C8C85-51F0-491E-9774-3900AFEF0FD7}</a:tableStyleId>
              </a:tblPr>
              <a:tblGrid>
                <a:gridCol w="1656184"/>
                <a:gridCol w="1512168"/>
                <a:gridCol w="1800200"/>
                <a:gridCol w="1872208"/>
                <a:gridCol w="1728191"/>
              </a:tblGrid>
              <a:tr h="743523">
                <a:tc gridSpan="5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pt-BR" sz="3000" b="1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 DE </a:t>
                      </a:r>
                      <a:r>
                        <a:rPr lang="pt-BR" sz="3000" b="1" baseline="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DESCARTADOS</a:t>
                      </a:r>
                      <a:endParaRPr lang="pt-BR" sz="30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825295">
                <a:tc gridSpan="4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Coisas não necessárias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Coisas ainda úteis 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0465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 em bom estado </a:t>
                      </a:r>
                      <a:endParaRPr kumimoji="0" lang="pt-BR" altLang="pt-BR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 em péssimo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Estado </a:t>
                      </a:r>
                      <a:endParaRPr kumimoji="0" lang="pt-BR" altLang="pt-BR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Recuperável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Material irrecuperável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Lixo seletivo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Encaminhar para o setor que vai utilizar </a:t>
                      </a:r>
                      <a:endParaRPr kumimoji="0" lang="pt-BR" altLang="pt-BR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5246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Venda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Venda para sucata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Recuperar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defTabSz="45720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defTabSz="45720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defTabSz="45720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defTabSz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Jogar 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altLang="pt-BR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Fora</a:t>
                      </a:r>
                      <a:endParaRPr kumimoji="0" lang="pt-BR" altLang="pt-BR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5000"/>
                            <a:lumOff val="3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9364" marR="99364" marT="49681" marB="4968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S3E1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78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2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953876"/>
              </p:ext>
            </p:extLst>
          </p:nvPr>
        </p:nvGraphicFramePr>
        <p:xfrm>
          <a:off x="838200" y="1752600"/>
          <a:ext cx="7238999" cy="3851275"/>
        </p:xfrm>
        <a:graphic>
          <a:graphicData uri="http://schemas.openxmlformats.org/drawingml/2006/table">
            <a:tbl>
              <a:tblPr firstRow="1" bandRow="1" bandCol="1">
                <a:tableStyleId>{7E9639D4-E3E2-4D34-9284-5A2195B3D0D7}</a:tableStyleId>
              </a:tblPr>
              <a:tblGrid>
                <a:gridCol w="1043258"/>
                <a:gridCol w="1024207"/>
                <a:gridCol w="1090271"/>
                <a:gridCol w="1008112"/>
                <a:gridCol w="1080120"/>
                <a:gridCol w="957862"/>
                <a:gridCol w="1035169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 quê</a:t>
                      </a:r>
                      <a:endParaRPr kumimoji="0" lang="pt-B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Quem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Quando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Quanto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Por quê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Onde 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pt-BR" sz="1800" u="none" strike="noStrike" kern="1200" cap="none" normalizeH="0" baseline="0" dirty="0" smtClean="0">
                          <a:ln>
                            <a:noFill/>
                          </a:ln>
                          <a:effectLst/>
                        </a:rPr>
                        <a:t>Como</a:t>
                      </a:r>
                      <a:endParaRPr kumimoji="0" lang="pt-BR" sz="1800" b="1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 Narrow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solidFill>
                      <a:srgbClr val="005297"/>
                    </a:solidFill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</a:tr>
              <a:tr h="812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pt-B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27585" y="1196752"/>
            <a:ext cx="72728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4Q1POC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S1E2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7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MELHORANDO O AMBIENTE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2060848"/>
            <a:ext cx="727280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altLang="pt-BR" sz="20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AMBIENTE LIMPO NÃO É O QUE MAIS </a:t>
            </a:r>
            <a:br>
              <a:rPr lang="pt-BR" altLang="pt-BR" sz="20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</a:br>
            <a:r>
              <a:rPr lang="pt-BR" altLang="pt-BR" sz="20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SE LIMPA, MAS O QUE NÃO SE SUJA</a:t>
            </a:r>
          </a:p>
          <a:p>
            <a:pPr>
              <a:defRPr/>
            </a:pPr>
            <a:endParaRPr lang="pt-BR" altLang="pt-BR" sz="20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altLang="pt-BR" sz="20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LIMPEZA  =  Cuidado, respeito pelos objetos e pessoas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S2E2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98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MELHORANDO O AMBIENTE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2060848"/>
            <a:ext cx="8136904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Observações necessárias à prática da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limpeza</a:t>
            </a: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:</a:t>
            </a:r>
          </a:p>
          <a:p>
            <a:pPr algn="ctr">
              <a:defRPr/>
            </a:pPr>
            <a:endParaRPr lang="pt-BR" altLang="pt-BR" sz="2200" b="1" dirty="0">
              <a:latin typeface="+mj-lt"/>
            </a:endParaRPr>
          </a:p>
          <a:p>
            <a:pPr>
              <a:defRPr/>
            </a:pP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• Capacidade de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cumprir </a:t>
            </a: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sua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finalidade</a:t>
            </a: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.</a:t>
            </a:r>
          </a:p>
          <a:p>
            <a:pPr>
              <a:defRPr/>
            </a:pPr>
            <a:endParaRPr lang="pt-BR" altLang="pt-BR" sz="2200" dirty="0">
              <a:solidFill>
                <a:schemeClr val="accent4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 Competência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emocional </a:t>
            </a: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nas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relações </a:t>
            </a:r>
            <a:r>
              <a:rPr lang="pt-BR" altLang="pt-BR" sz="2200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i</a:t>
            </a:r>
            <a:r>
              <a:rPr lang="pt-BR" altLang="pt-BR" sz="2200" dirty="0" err="1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nter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pt-BR" altLang="pt-BR" sz="2200" dirty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e </a:t>
            </a:r>
            <a:r>
              <a:rPr lang="pt-BR" altLang="pt-BR" sz="2200" dirty="0" smtClean="0">
                <a:solidFill>
                  <a:schemeClr val="accent4">
                    <a:lumMod val="65000"/>
                    <a:lumOff val="35000"/>
                  </a:schemeClr>
                </a:solidFill>
                <a:latin typeface="+mj-lt"/>
              </a:rPr>
              <a:t>intrapessoais       </a:t>
            </a:r>
            <a:endParaRPr lang="pt-BR" altLang="pt-BR" sz="2200" dirty="0">
              <a:solidFill>
                <a:schemeClr val="accent4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S3E2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MELHORANDO O AMBIENTE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5576" y="2060848"/>
            <a:ext cx="741682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Conservar e preservar os recursos naturais implica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usá-los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 forma autossustentável, econômica e racional para não extingui-los.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S4E2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60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MELHORANDO O AMBIENTE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55576" y="1628800"/>
            <a:ext cx="741682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Desequilíbrios que podem ser verificados nessa etapa:</a:t>
            </a:r>
          </a:p>
          <a:p>
            <a:pPr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Má iluminação.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Nível elevado de ruídos.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Odores fortes.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Excesso de partículas sólidas em suspensão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 ou acumuladas.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Objetos danificados.</a:t>
            </a:r>
          </a:p>
          <a:p>
            <a:pPr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• Equipamentos em mau funcionamento.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S5E2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55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MELHORANDO O AMBIENTE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576" y="2060848"/>
            <a:ext cx="7416824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pt-BR" altLang="pt-BR" sz="2400" dirty="0" smtClean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A responsabilidade pela 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limpeza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é individual.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A empresa deve se preocupar permanentemente em melhorar seus resultados relativos a segurança, saúde e meio ambiente.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S6E2</a:t>
            </a:r>
            <a:endParaRPr lang="pt-B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9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S7E2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PLANO DE EXECUÇÃO LIMPEZA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2060848"/>
            <a:ext cx="7416824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Percepção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dos benefícios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Situação desejada x Situação real </a:t>
            </a: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Limpeza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inicial e inspeção</a:t>
            </a:r>
          </a:p>
        </p:txBody>
      </p:sp>
    </p:spTree>
    <p:extLst>
      <p:ext uri="{BB962C8B-B14F-4D97-AF65-F5344CB8AC3E}">
        <p14:creationId xmlns:p14="http://schemas.microsoft.com/office/powerpoint/2010/main" val="1488126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S1E3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pic>
        <p:nvPicPr>
          <p:cNvPr id="5" name="Picture 12" descr="imagesCAJHYMJ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981075"/>
            <a:ext cx="3671887" cy="453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12"/>
          <p:cNvSpPr txBox="1">
            <a:spLocks noChangeArrowheads="1"/>
          </p:cNvSpPr>
          <p:nvPr/>
        </p:nvSpPr>
        <p:spPr bwMode="auto">
          <a:xfrm rot="-875129">
            <a:off x="822325" y="2424113"/>
            <a:ext cx="7729538" cy="20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altLang="pt-BR" sz="13000" b="1">
                <a:solidFill>
                  <a:srgbClr val="0070C0"/>
                </a:solidFill>
                <a:latin typeface="Arial Narrow" pitchFamily="34" charset="0"/>
              </a:rPr>
              <a:t> D-OLHO!!!</a:t>
            </a:r>
          </a:p>
        </p:txBody>
      </p:sp>
    </p:spTree>
    <p:extLst>
      <p:ext uri="{BB962C8B-B14F-4D97-AF65-F5344CB8AC3E}">
        <p14:creationId xmlns:p14="http://schemas.microsoft.com/office/powerpoint/2010/main" val="93447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S2E3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879103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2400" b="1" cap="all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pitchFamily="34" charset="0"/>
              </a:rPr>
              <a:t>O </a:t>
            </a:r>
            <a:r>
              <a:rPr lang="pt-BR" altLang="pt-BR" sz="2400" b="1" cap="all" dirty="0">
                <a:solidFill>
                  <a:srgbClr val="005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pitchFamily="34" charset="0"/>
              </a:rPr>
              <a:t>SUCESSO D-OLHO DEPENDE DAS SEGUINTES  ATITUDES: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2060848"/>
            <a:ext cx="741682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O empresário deve se comprometer com exemplos e atitudes diárias que encorajem as pessoas a rever e mudar posturas e procedimentos.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Manter a motivação e comprometimento das pessoas, mas isso só não basta.</a:t>
            </a:r>
          </a:p>
        </p:txBody>
      </p:sp>
    </p:spTree>
    <p:extLst>
      <p:ext uri="{BB962C8B-B14F-4D97-AF65-F5344CB8AC3E}">
        <p14:creationId xmlns:p14="http://schemas.microsoft.com/office/powerpoint/2010/main" val="222547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S3E3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879103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2400" b="1" cap="all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pitchFamily="34" charset="0"/>
              </a:rPr>
              <a:t>O </a:t>
            </a:r>
            <a:r>
              <a:rPr lang="pt-BR" altLang="pt-BR" sz="2400" b="1" cap="all" dirty="0">
                <a:solidFill>
                  <a:srgbClr val="005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pitchFamily="34" charset="0"/>
              </a:rPr>
              <a:t>SUCESSO D-OLHO DEPENDE DAS SEGUINTES  </a:t>
            </a:r>
            <a:r>
              <a:rPr lang="pt-BR" altLang="pt-BR" sz="2400" b="1" cap="all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cs typeface="Arial" pitchFamily="34" charset="0"/>
              </a:rPr>
              <a:t>ATITUDES:</a:t>
            </a:r>
            <a:endParaRPr lang="pt-BR" altLang="pt-BR" sz="2400" b="1" cap="all" dirty="0">
              <a:solidFill>
                <a:srgbClr val="0052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2060848"/>
            <a:ext cx="741682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Incorporar as atividades do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D-OLHO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à rotina diária das pessoas por meio da padronização, como foi visto na fase da Ordem Mantida.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Introduzir técnica de verificação visual dos procedimentos estabelecidos para o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D-OLHO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(Manutenção).</a:t>
            </a:r>
          </a:p>
          <a:p>
            <a:pPr>
              <a:defRPr/>
            </a:pPr>
            <a:endParaRPr lang="pt-BR" altLang="pt-BR" sz="24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13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S4E3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09600" y="1905000"/>
            <a:ext cx="12362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pt-BR" altLang="pt-BR" dirty="0" smtClean="0"/>
              <a:t>Qualidade</a:t>
            </a:r>
            <a:endParaRPr lang="pt-BR" alt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1219757" y="5445035"/>
            <a:ext cx="2362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Serrote</a:t>
            </a:r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4724957" y="5412769"/>
            <a:ext cx="2362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Escala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219757" y="2461567"/>
            <a:ext cx="2362200" cy="2057400"/>
            <a:chOff x="1143000" y="990600"/>
            <a:chExt cx="2362200" cy="2057400"/>
          </a:xfrm>
        </p:grpSpPr>
        <p:cxnSp>
          <p:nvCxnSpPr>
            <p:cNvPr id="9" name="Conector de seta reta 8"/>
            <p:cNvCxnSpPr/>
            <p:nvPr/>
          </p:nvCxnSpPr>
          <p:spPr>
            <a:xfrm flipV="1">
              <a:off x="1143000" y="990600"/>
              <a:ext cx="0" cy="2057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/>
            <p:cNvCxnSpPr/>
            <p:nvPr/>
          </p:nvCxnSpPr>
          <p:spPr>
            <a:xfrm>
              <a:off x="1143000" y="3048000"/>
              <a:ext cx="23622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/>
          <p:cNvGrpSpPr/>
          <p:nvPr/>
        </p:nvGrpSpPr>
        <p:grpSpPr>
          <a:xfrm>
            <a:off x="4724957" y="2461567"/>
            <a:ext cx="2362200" cy="2057400"/>
            <a:chOff x="1143000" y="990600"/>
            <a:chExt cx="2362200" cy="2057400"/>
          </a:xfrm>
        </p:grpSpPr>
        <p:cxnSp>
          <p:nvCxnSpPr>
            <p:cNvPr id="12" name="Conector de seta reta 11"/>
            <p:cNvCxnSpPr/>
            <p:nvPr/>
          </p:nvCxnSpPr>
          <p:spPr>
            <a:xfrm flipV="1">
              <a:off x="1143000" y="990600"/>
              <a:ext cx="0" cy="20574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/>
            <p:nvPr/>
          </p:nvCxnSpPr>
          <p:spPr>
            <a:xfrm>
              <a:off x="1143000" y="3048000"/>
              <a:ext cx="23622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aixaDeTexto 13"/>
          <p:cNvSpPr txBox="1"/>
          <p:nvPr/>
        </p:nvSpPr>
        <p:spPr>
          <a:xfrm>
            <a:off x="2704729" y="4747567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Tempo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5974505" y="4750684"/>
            <a:ext cx="87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Tempo</a:t>
            </a:r>
            <a:endParaRPr lang="pt-BR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106839" y="1905000"/>
            <a:ext cx="12362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pt-BR" altLang="pt-BR" dirty="0" smtClean="0"/>
              <a:t>Qualidade</a:t>
            </a:r>
            <a:endParaRPr lang="pt-BR" altLang="pt-BR" dirty="0"/>
          </a:p>
        </p:txBody>
      </p:sp>
      <p:grpSp>
        <p:nvGrpSpPr>
          <p:cNvPr id="17" name="Grupo 16"/>
          <p:cNvGrpSpPr/>
          <p:nvPr/>
        </p:nvGrpSpPr>
        <p:grpSpPr>
          <a:xfrm>
            <a:off x="1219757" y="3718867"/>
            <a:ext cx="2272618" cy="495300"/>
            <a:chOff x="1828800" y="3314700"/>
            <a:chExt cx="2272618" cy="495300"/>
          </a:xfrm>
        </p:grpSpPr>
        <p:grpSp>
          <p:nvGrpSpPr>
            <p:cNvPr id="18" name="Grupo 17"/>
            <p:cNvGrpSpPr/>
            <p:nvPr/>
          </p:nvGrpSpPr>
          <p:grpSpPr>
            <a:xfrm>
              <a:off x="1828800" y="3314700"/>
              <a:ext cx="762000" cy="495300"/>
              <a:chOff x="1828800" y="3314700"/>
              <a:chExt cx="762000" cy="495300"/>
            </a:xfrm>
          </p:grpSpPr>
          <p:cxnSp>
            <p:nvCxnSpPr>
              <p:cNvPr id="25" name="Conector reto 24"/>
              <p:cNvCxnSpPr/>
              <p:nvPr/>
            </p:nvCxnSpPr>
            <p:spPr>
              <a:xfrm flipV="1">
                <a:off x="1828800" y="3314700"/>
                <a:ext cx="397479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/>
              <p:cNvCxnSpPr/>
              <p:nvPr/>
            </p:nvCxnSpPr>
            <p:spPr>
              <a:xfrm flipH="1" flipV="1">
                <a:off x="2226279" y="3314700"/>
                <a:ext cx="364521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o 18"/>
            <p:cNvGrpSpPr/>
            <p:nvPr/>
          </p:nvGrpSpPr>
          <p:grpSpPr>
            <a:xfrm>
              <a:off x="2577418" y="3314700"/>
              <a:ext cx="762000" cy="495300"/>
              <a:chOff x="1828800" y="3314700"/>
              <a:chExt cx="762000" cy="495300"/>
            </a:xfrm>
          </p:grpSpPr>
          <p:cxnSp>
            <p:nvCxnSpPr>
              <p:cNvPr id="23" name="Conector reto 22"/>
              <p:cNvCxnSpPr/>
              <p:nvPr/>
            </p:nvCxnSpPr>
            <p:spPr>
              <a:xfrm flipV="1">
                <a:off x="1828800" y="3314700"/>
                <a:ext cx="397479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to 23"/>
              <p:cNvCxnSpPr/>
              <p:nvPr/>
            </p:nvCxnSpPr>
            <p:spPr>
              <a:xfrm flipH="1" flipV="1">
                <a:off x="2226279" y="3314700"/>
                <a:ext cx="364521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upo 19"/>
            <p:cNvGrpSpPr/>
            <p:nvPr/>
          </p:nvGrpSpPr>
          <p:grpSpPr>
            <a:xfrm>
              <a:off x="3339418" y="3314700"/>
              <a:ext cx="762000" cy="495300"/>
              <a:chOff x="1828800" y="3314700"/>
              <a:chExt cx="762000" cy="495300"/>
            </a:xfrm>
          </p:grpSpPr>
          <p:cxnSp>
            <p:nvCxnSpPr>
              <p:cNvPr id="21" name="Conector reto 20"/>
              <p:cNvCxnSpPr/>
              <p:nvPr/>
            </p:nvCxnSpPr>
            <p:spPr>
              <a:xfrm flipV="1">
                <a:off x="1828800" y="3314700"/>
                <a:ext cx="397479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to 21"/>
              <p:cNvCxnSpPr/>
              <p:nvPr/>
            </p:nvCxnSpPr>
            <p:spPr>
              <a:xfrm flipH="1" flipV="1">
                <a:off x="2226279" y="3314700"/>
                <a:ext cx="364521" cy="49530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Grupo 26"/>
          <p:cNvGrpSpPr/>
          <p:nvPr/>
        </p:nvGrpSpPr>
        <p:grpSpPr>
          <a:xfrm>
            <a:off x="4724957" y="3071167"/>
            <a:ext cx="1858383" cy="1263256"/>
            <a:chOff x="5152017" y="2330926"/>
            <a:chExt cx="2315583" cy="1574043"/>
          </a:xfrm>
        </p:grpSpPr>
        <p:grpSp>
          <p:nvGrpSpPr>
            <p:cNvPr id="28" name="Grupo 27"/>
            <p:cNvGrpSpPr/>
            <p:nvPr/>
          </p:nvGrpSpPr>
          <p:grpSpPr>
            <a:xfrm rot="16200000">
              <a:off x="5171066" y="3352517"/>
              <a:ext cx="533403" cy="571501"/>
              <a:chOff x="5562600" y="3134590"/>
              <a:chExt cx="629165" cy="675410"/>
            </a:xfrm>
          </p:grpSpPr>
          <p:cxnSp>
            <p:nvCxnSpPr>
              <p:cNvPr id="35" name="Conector reto 34"/>
              <p:cNvCxnSpPr/>
              <p:nvPr/>
            </p:nvCxnSpPr>
            <p:spPr>
              <a:xfrm rot="5400000">
                <a:off x="5224895" y="3472295"/>
                <a:ext cx="675409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>
              <a:xfrm rot="5400000" flipH="1" flipV="1">
                <a:off x="5877182" y="3495418"/>
                <a:ext cx="1" cy="62916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upo 28"/>
            <p:cNvGrpSpPr/>
            <p:nvPr/>
          </p:nvGrpSpPr>
          <p:grpSpPr>
            <a:xfrm rot="16200000">
              <a:off x="5742568" y="2820822"/>
              <a:ext cx="533403" cy="571501"/>
              <a:chOff x="5562600" y="3134590"/>
              <a:chExt cx="629165" cy="675410"/>
            </a:xfrm>
          </p:grpSpPr>
          <p:cxnSp>
            <p:nvCxnSpPr>
              <p:cNvPr id="33" name="Conector reto 32"/>
              <p:cNvCxnSpPr/>
              <p:nvPr/>
            </p:nvCxnSpPr>
            <p:spPr>
              <a:xfrm rot="5400000">
                <a:off x="5224895" y="3472295"/>
                <a:ext cx="675409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/>
              <p:cNvCxnSpPr/>
              <p:nvPr/>
            </p:nvCxnSpPr>
            <p:spPr>
              <a:xfrm rot="5400000" flipH="1" flipV="1">
                <a:off x="5877182" y="3495418"/>
                <a:ext cx="1" cy="62916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Conector reto 29"/>
            <p:cNvCxnSpPr/>
            <p:nvPr/>
          </p:nvCxnSpPr>
          <p:spPr>
            <a:xfrm>
              <a:off x="6286500" y="2864329"/>
              <a:ext cx="571500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/>
            <p:cNvCxnSpPr/>
            <p:nvPr/>
          </p:nvCxnSpPr>
          <p:spPr>
            <a:xfrm flipH="1" flipV="1">
              <a:off x="6858001" y="2330926"/>
              <a:ext cx="1" cy="533402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to 31"/>
            <p:cNvCxnSpPr/>
            <p:nvPr/>
          </p:nvCxnSpPr>
          <p:spPr>
            <a:xfrm flipH="1">
              <a:off x="6858002" y="2330926"/>
              <a:ext cx="609598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7" name="Diagrama 36"/>
          <p:cNvGraphicFramePr/>
          <p:nvPr>
            <p:extLst>
              <p:ext uri="{D42A27DB-BD31-4B8C-83A1-F6EECF244321}">
                <p14:modId xmlns:p14="http://schemas.microsoft.com/office/powerpoint/2010/main" val="4020133869"/>
              </p:ext>
            </p:extLst>
          </p:nvPr>
        </p:nvGraphicFramePr>
        <p:xfrm>
          <a:off x="6577918" y="1709854"/>
          <a:ext cx="2413682" cy="1782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73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S5E3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DICAS PARA PERPETUAÇÃO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Definir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quipe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 a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poio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exclusiva à p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erpetuação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Dividir a empresa toda: planta baixa/responsável.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Criar, definir e disponibilizar lista de verificação, padrão/responsável.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Montar Manual de Perpetuação/Auditoria (procedimentos, definições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)</a:t>
            </a: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67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S6E3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DICAS PARA PERPETUAÇÃO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endParaRPr lang="pt-BR" altLang="pt-BR" sz="2400" b="1" cap="all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Planejar e implementar a sistemática de verificação: diariamente, semanalmente.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Rotina de envolvimento familiar no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D-OLHO.</a:t>
            </a: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Disseminar informações para motivar, nivelar informações: boletins, cartazes, resultados.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Reconhecer o esforço da equipe sempre – HIGIENE.</a:t>
            </a:r>
          </a:p>
        </p:txBody>
      </p:sp>
    </p:spTree>
    <p:extLst>
      <p:ext uri="{BB962C8B-B14F-4D97-AF65-F5344CB8AC3E}">
        <p14:creationId xmlns:p14="http://schemas.microsoft.com/office/powerpoint/2010/main" val="12027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S1E4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AUDITORIAS INTERNAS D-OLHO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Habilitação de alguns dos colaboradores (Grupos de Apoio) da organização, com representantes de diferentes setores, que, após receberem a qualificação, executarão o processo de auditoria dos cinco Princípios do </a:t>
            </a:r>
          </a:p>
          <a:p>
            <a:pPr>
              <a:defRPr/>
            </a:pPr>
            <a:r>
              <a:rPr 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D-OLHO = EDUCACIONAL</a:t>
            </a:r>
          </a:p>
        </p:txBody>
      </p:sp>
    </p:spTree>
    <p:extLst>
      <p:ext uri="{BB962C8B-B14F-4D97-AF65-F5344CB8AC3E}">
        <p14:creationId xmlns:p14="http://schemas.microsoft.com/office/powerpoint/2010/main" val="86897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S2E4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TÉCNICAS DE AUDITORIA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endParaRPr lang="pt-BR" altLang="pt-BR" sz="2400" b="1" cap="all" dirty="0">
              <a:solidFill>
                <a:srgbClr val="0070C0"/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O</a:t>
            </a:r>
            <a:r>
              <a:rPr lang="pt-BR" altLang="pt-BR" sz="2400" b="1" dirty="0">
                <a:cs typeface="Arial" panose="020B0604020202020204" pitchFamily="34" charset="0"/>
              </a:rPr>
              <a:t>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instrumento básico do trabalho dos auditores é a LISTA DE VERIFICAÇÃO.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Com base na Lista de Verificação os auditores entrevistarão os responsáveis pelo programa e funcionários, observando as atividades, examinarão registros e analisarão documentos.</a:t>
            </a:r>
          </a:p>
        </p:txBody>
      </p:sp>
    </p:spTree>
    <p:extLst>
      <p:ext uri="{BB962C8B-B14F-4D97-AF65-F5344CB8AC3E}">
        <p14:creationId xmlns:p14="http://schemas.microsoft.com/office/powerpoint/2010/main" val="419676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S3E4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TÉCNICAS DE AUDITORIA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defRPr/>
            </a:pPr>
            <a:endParaRPr lang="pt-BR" altLang="pt-BR" sz="2400" b="1" cap="all" dirty="0">
              <a:solidFill>
                <a:srgbClr val="0070C0"/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Um a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uditor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deve </a:t>
            </a:r>
            <a:r>
              <a:rPr lang="pt-BR" altLang="pt-BR" sz="240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ser </a:t>
            </a:r>
            <a:r>
              <a:rPr lang="pt-BR" altLang="pt-BR" sz="240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observador.</a:t>
            </a: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A </a:t>
            </a:r>
            <a:r>
              <a:rPr lang="pt-BR" altLang="pt-BR" sz="2400" dirty="0" smtClean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auditoria </a:t>
            </a: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completa em todas as áreas da organização costuma durar de um a três dias, incluindo preparação, trabalho de campo mais a apresentação dos resultados em uma Reunião de Encerramento.</a:t>
            </a:r>
          </a:p>
        </p:txBody>
      </p:sp>
    </p:spTree>
    <p:extLst>
      <p:ext uri="{BB962C8B-B14F-4D97-AF65-F5344CB8AC3E}">
        <p14:creationId xmlns:p14="http://schemas.microsoft.com/office/powerpoint/2010/main" val="273600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403350" y="6497638"/>
            <a:ext cx="6477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solidFill>
                  <a:schemeClr val="bg1"/>
                </a:solidFill>
              </a:rPr>
              <a:t>S4E4</a:t>
            </a:r>
            <a:endParaRPr lang="pt-BR" sz="1400" b="1" dirty="0">
              <a:solidFill>
                <a:schemeClr val="bg1"/>
              </a:solidFill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84213" y="951111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NÃO CONFORMIDADE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684213" y="1484313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77739" y="3183830"/>
            <a:ext cx="777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300" b="1" dirty="0" smtClean="0">
                <a:solidFill>
                  <a:srgbClr val="00529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OBSERVADO</a:t>
            </a:r>
            <a:endParaRPr lang="pt-BR" sz="2300" b="1" dirty="0">
              <a:solidFill>
                <a:srgbClr val="005297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677739" y="3717032"/>
            <a:ext cx="7775575" cy="0"/>
          </a:xfrm>
          <a:prstGeom prst="line">
            <a:avLst/>
          </a:prstGeom>
          <a:noFill/>
          <a:ln w="38100">
            <a:solidFill>
              <a:srgbClr val="005297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55576" y="1772816"/>
            <a:ext cx="741682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Significa o descumprimento de um registro </a:t>
            </a:r>
            <a:b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</a:b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estabelecido, por exemplo, uma ação prevista e não realizada.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755576" y="3861048"/>
            <a:ext cx="7416824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Reporta a uma situação indesejável.</a:t>
            </a:r>
          </a:p>
          <a:p>
            <a:pPr>
              <a:buFont typeface="Arial" pitchFamily="34" charset="0"/>
              <a:buChar char="•"/>
              <a:defRPr/>
            </a:pPr>
            <a:endParaRPr lang="pt-BR" altLang="pt-BR" sz="2400" dirty="0">
              <a:solidFill>
                <a:schemeClr val="accent4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pt-BR" altLang="pt-BR" sz="2400" dirty="0">
                <a:solidFill>
                  <a:schemeClr val="accent4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Observações podem ser utilizadas na avaliação da eficácia do programa quando os resultados desejados são qualitativos, por exemplo: motivação, envolvimento de todos, melhoria da satisfação.</a:t>
            </a:r>
          </a:p>
        </p:txBody>
      </p:sp>
    </p:spTree>
    <p:extLst>
      <p:ext uri="{BB962C8B-B14F-4D97-AF65-F5344CB8AC3E}">
        <p14:creationId xmlns:p14="http://schemas.microsoft.com/office/powerpoint/2010/main" val="262449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 animBg="1"/>
      <p:bldP spid="9" grpId="0"/>
      <p:bldP spid="10" grpId="0"/>
    </p:bld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4008</TotalTime>
  <Words>673</Words>
  <Application>Microsoft Office PowerPoint</Application>
  <PresentationFormat>Apresentação na tela (4:3)</PresentationFormat>
  <Paragraphs>150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ＭＳ Ｐゴシック</vt:lpstr>
      <vt:lpstr>Arial</vt:lpstr>
      <vt:lpstr>Arial Narrow</vt:lpstr>
      <vt:lpstr>Calibri</vt:lpstr>
      <vt:lpstr>Times New Roman</vt:lpstr>
      <vt:lpstr>Design padrão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Edgar</dc:creator>
  <cp:lastModifiedBy>Maria Augusta Q. Rodrigues</cp:lastModifiedBy>
  <cp:revision>158</cp:revision>
  <dcterms:created xsi:type="dcterms:W3CDTF">2010-06-21T19:46:42Z</dcterms:created>
  <dcterms:modified xsi:type="dcterms:W3CDTF">2014-10-23T16:21:34Z</dcterms:modified>
</cp:coreProperties>
</file>